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n8n'i bir ürün olarak değil, bir SAP geliştiricisinin gözüyle anlatacağım: laptopta kurdum, bir CAP servisine bağladım, üretime koymadım; nerede ne gerekir onu da açıkça söyleyeceğim. Ortası canlı demo; altı slayt zihinsel modeli verir, demodan sonra beş slayt çerçeveyi: korumalar, BTP'deki yeri, bir SAP mimarının ilkeleri, üretim, kapanış. Şu cümleyi üç kez duyacaksınız: SAP veriyi tutar, n8n orkestre eder, agent sadece bir arayüzdür.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tabloyu hepimiz biliyoruz: onay SAP'de değil bir chat grubunda veriliyor, sonra biri sisteme elle giriyor. Neden şimdi? AI hype'ı değil: clean core ile SAP'nin dışında çalışan her şey için released API tek kapı oldu; LLM çağrısı sıradan bir HTTP isteğine döndü; n8n de agent node'unu hazır getiriyor. Soru işaretinin cevabı sonraki slayt.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Analoji yapmayacağım, çeviri tablosu vereceğim; üç satır yeter: webhook trigger bir SICF handler, Executions ekranı o programın SLG1'i artı ST22'si, send-and-wait SBWP'de bekleyen bir work item, sadece inbox Telegram. Agent de sihir değil: sizin OData'nızı çağırmayı seçen bir döngü içindeki LLM; hangi tool'u ne sırayla çağıracağına o karar veriyor, gerisi yine HTTP. Şu an bu laptopta bir Node süreci olarak çalışıyor, port 5678.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Dört iş: SAP-dışı SaaS'ları SAP'ye yapıştırmak; zamanlanmış ve olay tabanlı otomasyon; insanı döngüye almak — send-and-wait, bir chat mesajında onay butonu; ve agent — chat model artı tool'lar, tool'lar da sizin API'leriniz. Demoda üçüncü ve dördüncüyü göreceksiniz. Sayıya takılmayın, n8n'in kendi sayfaları bile farklı rakam veriyor; önemli olan HTTP Request node'unun olmayan her şeyi kapatması.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Yön önemli: SAP dışarı doğru bir webhook atıyor, n8n kimlik doğrulamalı bir action ile geri yazıyor; çekirdeğe dokunan bir şey yok. RAP'ta desen aynı: released bir Web API artı bir action. Demoda after-CREATE handler'ı senkron webhook atıyor — ABAP'çı gözüyle LUW içinde bir yan etki, farkındayım, demo kısayolu; üretimde çıkış olay tabanlı olur. Standalone n8n'de yerleşik SAP node'u yok, HTTP Request node'u yetiyor; SAP'nin yaptığı node'lar Joule Studio sürümünde — ona geleceğim.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Ekranı demoya geçiriyorum. Üç yere bakın: execution'ı açınca IF node'un hangi dala gittiği; Telegram'da beni bekleyen "waiting" execution; agent canvas'ında tool'ların sırayla yanması. Tek kural: agent siparişi oluşturur, onaylamaz — bunu denetleyin. Canlı LLM, canlı demo; ters giderse aynı üç çağrıyı elle atarım, anlatım değişmez.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Demoda iki koruma gördünüz: agent yalnızca oluşturdu, onay kararını IF verdi, eşik üstünü de bir insan onayladı. İki tane daha var: system prompt tahmini yasaklıyor, tool açıklamaları önce doğrula sonra yaz diyor; ve 2.6 ile gelen, tek bir tool'un çalışmasını insan onayına bağlama özelliği — yazan her tool'a böyle bir kapı koyabiliyorsunuz. Tek doğru sonuç varsa deterministik workflow, yargı gerekiyorsa agent; ikisi de aynı onay kapısından geçti. SAP veriyi tutar, n8n orkestre eder, agent sadece bir arayüzdür.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 salonunda SAP ürününü kötülemeyeceğim, gerek de yok: Inbox ve governance istiyorsanız SBPA, hacim ve EDI için Integration Suite doğru cevap. n8n'in yeri uzun kuyruk: Jira, Teams, Telegram adımı için kimsenin platform lisansı almayacağı yerler, PoC, ve LLM tool-calling'in hazır gelmesi. EDI, mapping tasarımcısı, merkezi mesaj izleme n8n'de yok; satın alma "SAP-supported" şartı koyuyorsa bağımsız n8n yanlış araç. Asıl haber alttaki kutu: SAP Mayıs'ta n8n'e azınlık yatırımı yaptı — satın almadı — ve n8n'i BTP'ye alıyor. Mimari olarak ne demek: runtime SAP Business AI Platform'da, yani akış SAP bulutunda koşuyor ve veri sizin SAP ortamınızdan çıkmıyor; editör Joule Studio 2.0'ın içinde; kimlik, erişim ve operasyonu SAP yönetiyor; tüketim BTP kredisinden düşüyor. SAP kendi node'larını yazdı — Task Center node'u demodaki Telegram onayının kurumsal karşılığı. İlk müşteriler Haziran'dan beri kullanıyor, GA yayılıyor; "yayında, herkese açık" demeyin, "geliyor, kademeli" deyin. Bugün gösterdiğim bağımsız n8n; aynı canvas, aynı JSON, yarın Joule Studio'da.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Bunlar benim ilkelerim değil, SAP Devtoberfest'te bir SAP cloud mimarının anlattığı demodan: garanti taleplerinin eklerini — fatura, fotoğraf — LLM'e talebin tüm bağlamıyla verip "bu ek bu talebe uyuyor mu" diye skorlatıyorlar. Agent karar vermiyor, değerlendiriciye hangi eke dikkatle bakacağını söylüyor. Aynı ilkeler bizim demoda da var: agent yalnızca oluşturur, çıktı dar — evet/hayır, onay insanda. Maliyet şaşırtıcı: bir PDF yaklaşık bir sentin altı. Ve mimarın uyarısı: UI'dan doğrudan webhook'a gitmek demo kısayolu — benimki de öyle — üretimde CAP araya girer, kimliği ve denetimi o üstlenir, n8n Joule Studio'da managed koşar.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Dört sessiz soru. Lisans fair-code: kendi sunucunuzda kurum içi kullanım ücretsiz, servis olarak satamazsınız, ayrıntı lisans metninde, ben avukat değilim. SAP destekliyor mu: bağımsız n8n'i hayır — Postman'i de desteklemiyor ama kullanıyoruz; Joule Studio içindeki sürümü SAP işletiyor. Güvenlik: demoda header key ve açık geri yazma — bilerek, localhost; üretimde JWT, IP allowlist, OAuth2, asenkron çıkış. İşletme: Postgres, encryption key yedeği, sabit sürüm — 2.0 kırıcı değişikliklerle geldi. Fiyatlar Eylül itibarıyla; SSO, environments, secret store, SLA ücretli katmanda. Yani bedava kısmı lisans, bedava olmayan kısmı işletmek.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Özet: karar SAP'de kalıyor, kural n8n'de, dil agent'ta. Sırayı karıştırmadığınız sürece — agent'ı onaylatmaya başlamadığınız sürece — bu iş çalışıyor. Tek ihtiyacınız dışarı açılmış bir servis ve bir webhook. Repo ve workflow JSON'ları QR'da. Sorular?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A6ED1"/>
          </a:solidFill>
          <a:ln w="12700">
            <a:solidFill>
              <a:srgbClr val="0A6E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143000"/>
            <a:ext cx="1554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103120" y="1481328"/>
            <a:ext cx="7315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2103120" y="1097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34640" y="114300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143000"/>
            <a:ext cx="1554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INSIDE TRACK ANKARA · EKIM 2026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57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API'lerden Akıllı Workflow'lara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26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 veriyi tutar, n8n orkestre eder, agent sadece bir arayüzdür.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1463040" cy="310896"/>
          </a:xfrm>
          <a:prstGeom prst="roundRect">
            <a:avLst>
              <a:gd name="adj" fmla="val 14706"/>
            </a:avLst>
          </a:prstGeom>
          <a:solidFill>
            <a:srgbClr val="243652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977640"/>
            <a:ext cx="14630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slayt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03120" y="3977640"/>
            <a:ext cx="4480560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03120" y="3977640"/>
            <a:ext cx="44805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demo · ~12 dk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3977640"/>
            <a:ext cx="1463040" cy="310896"/>
          </a:xfrm>
          <a:prstGeom prst="roundRect">
            <a:avLst>
              <a:gd name="adj" fmla="val 14706"/>
            </a:avLst>
          </a:prstGeom>
          <a:solidFill>
            <a:srgbClr val="243652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3977640"/>
            <a:ext cx="14630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slayt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Gizem İlgar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sipariş onayı için bugün kaç sisteme dokunuyoruz?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A6ED1"/>
          </a:solidFill>
          <a:ln w="12700">
            <a:solidFill>
              <a:srgbClr val="0A6E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1371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97480" y="1783080"/>
            <a:ext cx="1417320" cy="329184"/>
          </a:xfrm>
          <a:prstGeom prst="roundRect">
            <a:avLst>
              <a:gd name="adj" fmla="val 13889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783080"/>
            <a:ext cx="14173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20240" y="2697480"/>
            <a:ext cx="777240" cy="-749808"/>
          </a:xfrm>
          <a:prstGeom prst="line">
            <a:avLst/>
          </a:prstGeom>
          <a:noFill/>
          <a:ln w="15875">
            <a:solidFill>
              <a:srgbClr val="B8C2CE"/>
            </a:solidFill>
            <a:prstDash val="dash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97480" y="2212848"/>
            <a:ext cx="1417320" cy="329184"/>
          </a:xfrm>
          <a:prstGeom prst="roundRect">
            <a:avLst>
              <a:gd name="adj" fmla="val 13889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2212848"/>
            <a:ext cx="14173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Telegram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920240" y="2697480"/>
            <a:ext cx="777240" cy="-320040"/>
          </a:xfrm>
          <a:prstGeom prst="line">
            <a:avLst/>
          </a:prstGeom>
          <a:noFill/>
          <a:ln w="15875">
            <a:solidFill>
              <a:srgbClr val="B8C2CE"/>
            </a:solidFill>
            <a:prstDash val="dash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97480" y="2642616"/>
            <a:ext cx="1417320" cy="329184"/>
          </a:xfrm>
          <a:prstGeom prst="roundRect">
            <a:avLst>
              <a:gd name="adj" fmla="val 13889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97480" y="2642616"/>
            <a:ext cx="14173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920240" y="2697480"/>
            <a:ext cx="777240" cy="109728"/>
          </a:xfrm>
          <a:prstGeom prst="line">
            <a:avLst/>
          </a:prstGeom>
          <a:noFill/>
          <a:ln w="15875">
            <a:solidFill>
              <a:srgbClr val="B8C2CE"/>
            </a:solidFill>
            <a:prstDash val="dash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97480" y="3072384"/>
            <a:ext cx="1417320" cy="329184"/>
          </a:xfrm>
          <a:prstGeom prst="roundRect">
            <a:avLst>
              <a:gd name="adj" fmla="val 13889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97480" y="3072384"/>
            <a:ext cx="14173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920240" y="2697480"/>
            <a:ext cx="777240" cy="539496"/>
          </a:xfrm>
          <a:prstGeom prst="line">
            <a:avLst/>
          </a:prstGeom>
          <a:noFill/>
          <a:ln w="15875">
            <a:solidFill>
              <a:srgbClr val="B8C2CE"/>
            </a:solidFill>
            <a:prstDash val="dash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48640" y="35204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67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dışarıda veriliyor, SAP'ye elle geri giriliyor.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37760" y="22860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A6ED1"/>
          </a:solidFill>
          <a:ln w="12700">
            <a:solidFill>
              <a:srgbClr val="0A6ED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2286000"/>
            <a:ext cx="1371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2496312"/>
            <a:ext cx="91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0A6ED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6E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released API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19088" y="2532888"/>
            <a:ext cx="850392" cy="0"/>
          </a:xfrm>
          <a:prstGeom prst="line">
            <a:avLst/>
          </a:prstGeom>
          <a:noFill/>
          <a:ln w="19050">
            <a:solidFill>
              <a:srgbClr val="14202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69480" y="2862072"/>
            <a:ext cx="-850392" cy="0"/>
          </a:xfrm>
          <a:prstGeom prst="line">
            <a:avLst/>
          </a:prstGeom>
          <a:noFill/>
          <a:ln w="19050">
            <a:solidFill>
              <a:srgbClr val="EA4B7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269480" y="228600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FCE8ED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69480" y="2286000"/>
            <a:ext cx="1280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3520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bugünkü oturum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937760" y="376732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Kararı SAP'nin dışına çıkarıp sonucu geri yazacağız. Sonra aynı API'yi bir agent'a vereceğiz — agent sipariş açar, onay yine kuralda ve insanda kalır.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297680"/>
            <a:ext cx="804672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4074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core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6360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dışarıdaki her şey için released API tek kapı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273552" y="44074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= HTTP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3273552" y="46360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calling: JSON'la dönen bir fonksiyon çağrısı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998464" y="44074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998464" y="46360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node'u hazır — Python yazmadan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NEDIR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Canvas'ı olan bir Node.js süreci — analoji değil, çeviri tablosu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 AN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 laptopta bir Node süreci, :5678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24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KELIME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· node · execution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655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941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senin OData'nı çağırmayı seçen bir döngüdeki LLM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224528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2245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fair-code · self-host ya da Cloud · 2019, Berlin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1755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17556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ABAP KARŞILIĞI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11880" y="2336292"/>
            <a:ext cx="4983480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11880" y="2029968"/>
            <a:ext cx="1828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532120" y="2029968"/>
            <a:ext cx="30175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11880" y="2660904"/>
            <a:ext cx="4983480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11880" y="2354580"/>
            <a:ext cx="1828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2354580"/>
            <a:ext cx="30175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/ function çağrısı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20440" y="2660904"/>
            <a:ext cx="5166360" cy="324612"/>
          </a:xfrm>
          <a:prstGeom prst="rect">
            <a:avLst/>
          </a:prstGeom>
          <a:solidFill>
            <a:srgbClr val="FCE8ED"/>
          </a:solidFill>
          <a:ln w="12700">
            <a:solidFill>
              <a:srgbClr val="FCE8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11880" y="2985516"/>
            <a:ext cx="4983480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11880" y="2679192"/>
            <a:ext cx="1828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Webhook trigger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532120" y="2679192"/>
            <a:ext cx="30175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SICF servis + IF_HTTP_EXTENSION handler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11880" y="3310128"/>
            <a:ext cx="4983480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11880" y="3003804"/>
            <a:ext cx="1828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Request node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532120" y="3003804"/>
            <a:ext cx="30175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cl_http_client · if_web_http_client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11880" y="3634740"/>
            <a:ext cx="4983480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11880" y="3328416"/>
            <a:ext cx="1828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Credentials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3328416"/>
            <a:ext cx="30175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SM59 destination'ın auth yarısı + STRUST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11880" y="3959352"/>
            <a:ext cx="4983480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11880" y="3653028"/>
            <a:ext cx="1828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node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532120" y="3653028"/>
            <a:ext cx="30175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20440" y="3959352"/>
            <a:ext cx="5166360" cy="324612"/>
          </a:xfrm>
          <a:prstGeom prst="rect">
            <a:avLst/>
          </a:prstGeom>
          <a:solidFill>
            <a:srgbClr val="FCE8ED"/>
          </a:solidFill>
          <a:ln w="12700">
            <a:solidFill>
              <a:srgbClr val="FCE8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11880" y="4283964"/>
            <a:ext cx="4983480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611880" y="3977640"/>
            <a:ext cx="1828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532120" y="3977640"/>
            <a:ext cx="30175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programın SLG1'i + ST22'si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520440" y="4283964"/>
            <a:ext cx="5166360" cy="324612"/>
          </a:xfrm>
          <a:prstGeom prst="rect">
            <a:avLst/>
          </a:prstGeom>
          <a:solidFill>
            <a:srgbClr val="FCE8ED"/>
          </a:solidFill>
          <a:ln w="12700">
            <a:solidFill>
              <a:srgbClr val="FCE8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11880" y="4608576"/>
            <a:ext cx="4983480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611880" y="4302252"/>
            <a:ext cx="1828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 and Wait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532120" y="4302252"/>
            <a:ext cx="30175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SBWP'de bekleyen work item — inbox: Telegram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3611880" y="46634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CAP'çılar için: srv/ handler zincirini kutulara ayırmak; tool = dışarı açtığın bir function.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NELER YAPILIR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Dört iş, hepsi aynı canvas'ta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01952"/>
            <a:ext cx="457200" cy="457200"/>
          </a:xfrm>
          <a:prstGeom prst="ellipse">
            <a:avLst/>
          </a:prstGeom>
          <a:solidFill>
            <a:srgbClr val="E4EFFB"/>
          </a:solidFill>
          <a:ln w="12700">
            <a:solidFill>
              <a:srgbClr val="E4EFF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2025396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18836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98448" y="213969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SAP-dışı SaaS yapıştırıcısı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261872" y="23774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· Teams · GitHub · Google Sheets ↔ SAP OData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Olmayan servis için HTTP Request + Code node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MCP: n8n hem sunucu hem istemci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73736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28032" y="1901952"/>
            <a:ext cx="457200" cy="457200"/>
          </a:xfrm>
          <a:prstGeom prst="ellipse">
            <a:avLst/>
          </a:prstGeom>
          <a:solidFill>
            <a:srgbClr val="E4EFFB"/>
          </a:solidFill>
          <a:ln w="12700">
            <a:solidFill>
              <a:srgbClr val="E4EFF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76" y="2025396"/>
            <a:ext cx="210312" cy="2103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13248" y="18836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Otomasyon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413248" y="213969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tetikle, dallan, tekrar dene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376672" y="23774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· zamanlayıcı · uygulama olayı · chat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IF/Switch, döngü, alt-workflow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workflow, retry, her adımın kaydı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2004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3232" y="3364992"/>
            <a:ext cx="457200" cy="457200"/>
          </a:xfrm>
          <a:prstGeom prst="ellipse">
            <a:avLst/>
          </a:prstGeom>
          <a:solidFill>
            <a:srgbClr val="FCE8ED"/>
          </a:solidFill>
          <a:ln w="12700">
            <a:solidFill>
              <a:srgbClr val="FCE8E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3488436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98448" y="33467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 döngüde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298448" y="360273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and Wait for Response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1261872" y="38404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 butonu · serbest metin · form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Telegram, Slack, Teams, Gmail, Outlook, WhatsApp…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 sınırı: zaman aşımında devam et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663440" y="32004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828032" y="3364992"/>
            <a:ext cx="457200" cy="457200"/>
          </a:xfrm>
          <a:prstGeom prst="ellipse">
            <a:avLst/>
          </a:prstGeom>
          <a:solidFill>
            <a:srgbClr val="FCE8ED"/>
          </a:solidFill>
          <a:ln w="12700">
            <a:solidFill>
              <a:srgbClr val="FCE8E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476" y="3488436"/>
            <a:ext cx="210312" cy="21031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413248" y="33467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413248" y="360273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tool'lar = senin API'lerin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5376672" y="38404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model: OpenAI, Anthropic, Gemini, Ollama…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HTTP Request, alt-workflow, MCP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tool'a insan onayı kapısı (2.6+)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dizini 2.000+ (community node'lar dahil) · sayı sürüme göre değişir, HTTP Request node geri kalanı kapatır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ILE ILIŞKISI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arayüz HTTP: SAP tutar, n8n orkestre eder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00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A6ED1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85800" y="1847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core sınırı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0A6ED1"/>
          </a:solidFill>
          <a:ln w="12700">
            <a:solidFill>
              <a:srgbClr val="0A6ED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76272"/>
            <a:ext cx="27432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 /  RAP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OData (V2/V4)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bir action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03320" y="2487168"/>
            <a:ext cx="1097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6ED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3172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6E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released API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60720" y="1783080"/>
            <a:ext cx="2834640" cy="2011680"/>
          </a:xfrm>
          <a:prstGeom prst="roundRect">
            <a:avLst>
              <a:gd name="adj" fmla="val 3636"/>
            </a:avLst>
          </a:prstGeom>
          <a:solidFill>
            <a:srgbClr val="FCE8ED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97880" y="1856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97880" y="2212848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89320" y="22128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Webhook → IF → Telegram → HTTP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97880" y="2697480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89320" y="26974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 → AI Agent → 3 tool (OData)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3172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ikisi de aynı webhook'a düşer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2286000"/>
            <a:ext cx="1920240" cy="0"/>
          </a:xfrm>
          <a:prstGeom prst="line">
            <a:avLst/>
          </a:prstGeom>
          <a:noFill/>
          <a:ln w="19050">
            <a:solidFill>
              <a:srgbClr val="14202E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886200" y="2395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webhook · header key / JWT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60720" y="3246120"/>
            <a:ext cx="-1920240" cy="0"/>
          </a:xfrm>
          <a:prstGeom prst="line">
            <a:avLst/>
          </a:prstGeom>
          <a:noFill/>
          <a:ln w="19050">
            <a:solidFill>
              <a:srgbClr val="EA4B71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388620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OData action · OAuth2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60520" y="137160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60520" y="1371600"/>
            <a:ext cx="12801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Mesh · üretim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94760" y="2148840"/>
            <a:ext cx="365760" cy="-576072"/>
          </a:xfrm>
          <a:prstGeom prst="line">
            <a:avLst/>
          </a:prstGeom>
          <a:noFill/>
          <a:ln w="15875">
            <a:solidFill>
              <a:srgbClr val="B8C2CE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40680" y="1572768"/>
            <a:ext cx="365760" cy="576072"/>
          </a:xfrm>
          <a:prstGeom prst="line">
            <a:avLst/>
          </a:prstGeom>
          <a:noFill/>
          <a:ln w="15875">
            <a:solidFill>
              <a:srgbClr val="B8C2CE"/>
            </a:solidFill>
            <a:prstDash val="dash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394960" y="1444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9319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ya da RAP fark etmez: released OData servisi + bir action, ötesi yok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core ile aynı yön: side-by-side, yalnız released API ve event — çekirdeğe dokunan yok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kısayolu: after-CREATE → senkron webhook · Üretim: emit → Event Mesh → n8n, LUW dışı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CANLI DEMO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Şimdi canlı görelim — üç yere bakın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457200" cy="45720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830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Execution'ı açınca IF node'un kararı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11226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yalnız durumu gösterir; içeri girince dal görünür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603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"Waiting" durumundaki execution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8950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Telegram'da bir insan bekleniyor — saatlerce de bekleyebilir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64992"/>
            <a:ext cx="457200" cy="45720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3375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canvas'ında üç tool'un sırayla yanması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66674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listProducts → getCustomer → createOrder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</a:t>
            </a:r>
            <a:pPr indent="0" marL="0">
              <a:buNone/>
            </a:pPr>
            <a:r>
              <a:rPr lang="en-US" sz="12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siparişi oluşturur, onay kararını vermez — denetleyin.   </a:t>
            </a:r>
            <a:pPr indent="0" marL="0">
              <a:buNone/>
            </a:pPr>
            <a:r>
              <a:rPr lang="en-US" sz="12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giderse aynı üç çağrıyı elle atarım.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DEMODAN SONRA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oluşturur. Onaylamaz.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72768"/>
            <a:ext cx="36576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 listProducts → getCustomer → createOrder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231136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0A6ED1"/>
          </a:solidFill>
          <a:ln w="12700">
            <a:solidFill>
              <a:srgbClr val="0A6ED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31136"/>
            <a:ext cx="36576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 IF tutar &gt; eşik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06240" y="1810512"/>
            <a:ext cx="640080" cy="265176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06240" y="2468880"/>
            <a:ext cx="640080" cy="-25603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46320" y="1664208"/>
            <a:ext cx="1371600" cy="960120"/>
          </a:xfrm>
          <a:prstGeom prst="diamond">
            <a:avLst/>
          </a:prstGeom>
          <a:solidFill>
            <a:srgbClr val="F7EFDC"/>
          </a:solidFill>
          <a:ln w="12700">
            <a:solidFill>
              <a:srgbClr val="B0750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664208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075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 onayı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B075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send-and-wait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2139696"/>
            <a:ext cx="640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0" y="1901952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243652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1901952"/>
            <a:ext cx="1737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SAP: approve action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852928"/>
            <a:ext cx="8046720" cy="201168"/>
          </a:xfrm>
          <a:prstGeom prst="rect">
            <a:avLst/>
          </a:prstGeom>
          <a:solidFill>
            <a:srgbClr val="1B2A40"/>
          </a:solidFill>
          <a:ln w="12700">
            <a:solidFill>
              <a:srgbClr val="1B2A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85292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 adım Executions'ta — denetim izi hazır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1272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GÖRDÜNÜZ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3741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yalnızca createOrder çağırdı — onay/ret tool'u yok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1272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GÖRDÜNÜZ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3741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kararı deterministik IF verdi; eşik üstünü bir insan onayladı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749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075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GÖRMEDINIZ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995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tahmini yasaklıyor; tool açıklamaları "doğrula, sonra yaz"ı zorluyor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3749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075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GÖRMEDINIZ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3995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2.6+ (Oca 2026): tek bir tool'un çalışması insan onayına bağlanabiliyor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4988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 veriyi tutar, n8n orkestre eder, agent sadece bir arayüzdür.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VE BTP'DEKI YERI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Üç araç, üç yer — n8n artık BTP'de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81328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E4EFFB"/>
          </a:solidFill>
          <a:ln w="12700">
            <a:solidFill>
              <a:srgbClr val="E4EF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813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Suite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385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hacim · garantili teslim · B2B/EDI · API Management · merkezi izleme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054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onay: —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destek: SAP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73552" y="1481328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3552" y="1481328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E4EFFB"/>
          </a:solidFill>
          <a:ln w="12700">
            <a:solidFill>
              <a:srgbClr val="E4EF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0712" y="14813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Process Automation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410712" y="19385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merkezde insan: form · karar tablosu · RPA · My Inbox / Task Center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410712" y="25054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onay: Inbox / Task Center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410712" y="2743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destek: SAP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98464" y="1481328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98464" y="1481328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CE8ED"/>
          </a:solidFill>
          <a:ln w="12700">
            <a:solidFill>
              <a:srgbClr val="FCE8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35624" y="14813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135624" y="19385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SAP-dışı SaaS yapıştırıcısı · chat'te onay · AI agent · PoC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135624" y="25054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onay: Telegram / Teams / mail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135624" y="2743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destek: forum · SLA yalnız Enterprise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163824"/>
            <a:ext cx="8046720" cy="347472"/>
          </a:xfrm>
          <a:prstGeom prst="roundRect">
            <a:avLst>
              <a:gd name="adj" fmla="val 15789"/>
            </a:avLst>
          </a:prstGeom>
          <a:solidFill>
            <a:srgbClr val="F8E7E5"/>
          </a:solidFill>
          <a:ln w="12700">
            <a:solidFill>
              <a:srgbClr val="F8E7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16382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F3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n8n'e verme:  </a:t>
            </a:r>
            <a:pPr indent="0" marL="0">
              <a:buNone/>
            </a:pPr>
            <a:r>
              <a:rPr lang="en-US" sz="1050" dirty="0">
                <a:solidFill>
                  <a:srgbClr val="AF3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B2B/EDI   ·   mapping tasarımcısı   ·   SLA'lı yüksek hacim   ·   "SAP-supported tooling" şartı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8046720" cy="1298448"/>
          </a:xfrm>
          <a:prstGeom prst="roundRect">
            <a:avLst>
              <a:gd name="adj" fmla="val 5634"/>
            </a:avLst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675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MAYIS 2026 → BUGÜN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3895344"/>
            <a:ext cx="7635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SAP, n8n'e stratejik azınlık yatırımı yaptı (5,2 mlr $ değerleme) — satın alma değil, ortaklık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SAP Business AI Platform / BTP — akış SAP bulutunda koşar, veri müşterinin SAP ortamında kalır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Editör: Joule Studio 2.0 içinde · SAP işletir (kimlik, erişim, operasyon) · tüketim BTP kredisinden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B8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SAP-yapımı node'lar: HANA · Task Center · Integration Suite · MCP · SAP Agent — ilk müşteriler Haz 2026'dan beri, GA yayılıyor; bağımsız n8n'de SAP node'u yok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SAP MIMARININ ILKELERI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Belirsizliği çekirdek sürece sokmadan değer üretmek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Devtoberfest 2026 · "n8n for Agentic Integrations" (Shebang Software) — garanti talebi eklerini LLM'le değerlendiren bir Fiori + n8n demosundan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01368"/>
            <a:ext cx="475488" cy="475488"/>
          </a:xfrm>
          <a:prstGeom prst="ellipse">
            <a:avLst/>
          </a:prstGeom>
          <a:solidFill>
            <a:srgbClr val="FCE8ED"/>
          </a:solidFill>
          <a:ln w="12700">
            <a:solidFill>
              <a:srgbClr val="FCE8E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022" y="1929750"/>
            <a:ext cx="218724" cy="2187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case'lere göre tasarla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205740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mutlu yol değil, uyumsuz fatura ve yanlış fotoğraf test edildi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801368"/>
            <a:ext cx="475488" cy="475488"/>
          </a:xfrm>
          <a:prstGeom prst="ellipse">
            <a:avLst/>
          </a:prstGeom>
          <a:solidFill>
            <a:srgbClr val="FCE8ED"/>
          </a:solidFill>
          <a:ln w="12700">
            <a:solidFill>
              <a:srgbClr val="FCE8E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822" y="1929750"/>
            <a:ext cx="218724" cy="2187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Küçük, tekrarlanabilir işle başla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5303520" y="205740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soru: "bu ek bu talebe uyuyor mu?"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2688336"/>
            <a:ext cx="475488" cy="475488"/>
          </a:xfrm>
          <a:prstGeom prst="ellipse">
            <a:avLst/>
          </a:prstGeom>
          <a:solidFill>
            <a:srgbClr val="FCE8ED"/>
          </a:solidFill>
          <a:ln w="12700">
            <a:solidFill>
              <a:srgbClr val="FCE8ED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22" y="2816718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88720" y="2670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Çıktıyı sınırla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1188720" y="294436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serbest metin değil — sabit JSON şeması, skor, evet/hayır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663440" y="2688336"/>
            <a:ext cx="475488" cy="475488"/>
          </a:xfrm>
          <a:prstGeom prst="ellipse">
            <a:avLst/>
          </a:prstGeom>
          <a:solidFill>
            <a:srgbClr val="FCE8ED"/>
          </a:solidFill>
          <a:ln w="12700">
            <a:solidFill>
              <a:srgbClr val="FCE8ED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822" y="2816718"/>
            <a:ext cx="218724" cy="2187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03520" y="2670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ile başla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5303520" y="294436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karar vermiyor, insanın işini hızlandırıyor; güven arttıkça genişler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48640" y="3575304"/>
            <a:ext cx="475488" cy="475488"/>
          </a:xfrm>
          <a:prstGeom prst="ellipse">
            <a:avLst/>
          </a:prstGeom>
          <a:solidFill>
            <a:srgbClr val="FCE8ED"/>
          </a:solidFill>
          <a:ln w="12700">
            <a:solidFill>
              <a:srgbClr val="FCE8ED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022" y="3703686"/>
            <a:ext cx="218724" cy="21872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88720" y="3557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Maliyeti ölç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1188720" y="383133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PDF'in OCR + değerlendirmesi ≈ 0,8 ¢ — klasik OCR'dan ucuz ve isabetli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663440" y="3575304"/>
            <a:ext cx="475488" cy="475488"/>
          </a:xfrm>
          <a:prstGeom prst="ellipse">
            <a:avLst/>
          </a:prstGeom>
          <a:solidFill>
            <a:srgbClr val="FCE8ED"/>
          </a:solidFill>
          <a:ln w="12700">
            <a:solidFill>
              <a:srgbClr val="FCE8ED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822" y="3703686"/>
            <a:ext cx="218724" cy="21872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303520" y="3557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Yönetişimi baştan kur</a:t>
            </a:r>
            <a:endParaRPr lang="en-US" sz="1350" dirty="0"/>
          </a:p>
        </p:txBody>
      </p:sp>
      <p:sp>
        <p:nvSpPr>
          <p:cNvPr id="28" name="Text 20"/>
          <p:cNvSpPr txBox="1"/>
          <p:nvPr/>
        </p:nvSpPr>
        <p:spPr>
          <a:xfrm>
            <a:off x="5303520" y="383133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"çok PoC, az üretim" — kimlik, denetim ve bağlam toplama CAP'te, LLM erişimi Generative AI Hub'dan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548640" y="4526280"/>
            <a:ext cx="8046720" cy="329184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731520" y="45262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kurgu: </a:t>
            </a:r>
            <a:pPr indent="0" marL="0">
              <a:buNone/>
            </a:pPr>
            <a:r>
              <a:rPr lang="en-US" sz="10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Fiori → CAP (auth, audit, bağlam) → n8n (Joule Studio'da managed) → LLM.  </a:t>
            </a:r>
            <a:pPr indent="0" marL="0">
              <a:buNone/>
            </a:pPr>
            <a:r>
              <a:rPr lang="en-US" sz="10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UI'dan doğrudan webhook'a gitmek demo kısayoludur.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ÜRETIME TAŞIRKEN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Bedava kısmı lisans, bedava olmayan kısmı işletmek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39319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847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Lisansı ne?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865376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4F1E9"/>
          </a:solidFill>
          <a:ln w="12700">
            <a:solidFill>
              <a:srgbClr val="E4F1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865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çözüldü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57984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Use License (fair-code): kurum içi kullanım self-host ücretsiz · servis olarak sunmak / satmak yasak · danışman müşteri adına işletiyorsa lisansı oku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719072"/>
            <a:ext cx="39319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8032" y="1847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destekliyor mu?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0" y="1865376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7EFDC"/>
          </a:solidFill>
          <a:ln w="12700">
            <a:solidFill>
              <a:srgbClr val="F7EF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0" y="1865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B075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senin işin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828032" y="2157984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n8n: hayır — Postman'i de desteklemiyor; desteklenen şey senin released API'n · Joule Studio içinde: SAP işletiyor, BTP kredisinden düşüyor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072384"/>
            <a:ext cx="39319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mi?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83280" y="321868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4F1E9"/>
          </a:solidFill>
          <a:ln w="12700">
            <a:solidFill>
              <a:srgbClr val="E4F1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83280" y="3218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çözüldü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511296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Webhook: header key / JWT + IP allowlist · geri yazma: OAuth2 client credentials (XSUAA / IAS) · SAP'den çıkış asenkron · demoda geri yazma açıktı — bilerek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072384"/>
            <a:ext cx="39319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28032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işletecek?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98080" y="321868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7EFDC"/>
          </a:solidFill>
          <a:ln w="12700">
            <a:solidFill>
              <a:srgbClr val="F7EF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0" y="3218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B075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senin işin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828032" y="3511296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· encryption key yedeği (kaybedersen tüm credential'lar gider) · sabit sürüm, :latest değil · Docker / K8s / BTP Kyma ya da n8n Cloud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462272"/>
            <a:ext cx="804672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Self-host: </a:t>
            </a:r>
            <a:pPr indent="0" marL="0">
              <a:buNone/>
            </a:pPr>
            <a:r>
              <a:rPr lang="en-US" sz="10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ücretsiz · Business €667/ay      </a:t>
            </a:r>
            <a:pPr indent="0" marL="0">
              <a:buNone/>
            </a:pPr>
            <a:r>
              <a:rPr lang="en-US" sz="10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</a:t>
            </a:r>
            <a:pPr indent="0" marL="0">
              <a:buNone/>
            </a:pPr>
            <a:r>
              <a:rPr lang="en-US" sz="10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€20 · Pro €50/ay (yıllık)      </a:t>
            </a:r>
            <a:pPr indent="0" marL="0">
              <a:buNone/>
            </a:pPr>
            <a:r>
              <a:rPr lang="en-US" sz="10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</a:t>
            </a:r>
            <a:pPr indent="0" marL="0">
              <a:buNone/>
            </a:pPr>
            <a:r>
              <a:rPr lang="en-US" sz="10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 Enterprise      </a:t>
            </a:r>
            <a:pPr indent="0" marL="0">
              <a:buNone/>
            </a:pPr>
            <a:r>
              <a:rPr lang="en-US" sz="10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n8n.io/pricing · Eyl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A5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Karar SAP'de</a:t>
            </a:r>
            <a:pPr indent="0" marL="0">
              <a:buNone/>
            </a:pPr>
            <a:r>
              <a:rPr lang="en-US" sz="2400" b="1" dirty="0">
                <a:solidFill>
                  <a:srgbClr val="B8C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 </a:t>
            </a:r>
            <a:pPr indent="0" marL="0">
              <a:buNone/>
            </a:pPr>
            <a:r>
              <a:rPr lang="en-US" sz="2400" b="1" dirty="0">
                <a:solidFill>
                  <a:srgbClr val="F08B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kural n8n'de</a:t>
            </a:r>
            <a:pPr indent="0" marL="0">
              <a:buNone/>
            </a:pPr>
            <a:r>
              <a:rPr lang="en-US" sz="2400" b="1" dirty="0">
                <a:solidFill>
                  <a:srgbClr val="B8C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 </a:t>
            </a:r>
            <a:pPr indent="0" marL="0">
              <a:buNone/>
            </a:pPr>
            <a:r>
              <a:rPr lang="en-US" sz="2400" b="1" dirty="0">
                <a:solidFill>
                  <a:srgbClr val="B8C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 agent'ta</a:t>
            </a:r>
            <a:pPr indent="0" marL="0">
              <a:buNone/>
            </a:pPr>
            <a:r>
              <a:rPr lang="en-US" sz="2400" b="1" dirty="0">
                <a:solidFill>
                  <a:srgbClr val="B8C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 veriyi tutar, n8n orkestre eder, agent sadece bir arayüzdür.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Sırayı karıştırmadığınız sürece bu iş çalışıyor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ihtiyacınız: dışarı açılmış bir servis ve bir webhook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+ workflow JSON'ları + bu deste → QR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Gizem İlgar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CAP · n8n · Telegram · Google Gemini — hepsi bu laptopta çalışıyor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+ n8n: API'lerden Akıllı Workflow'lara</dc:title>
  <dc:subject>PptxGenJS Presentation</dc:subject>
  <dc:creator>Gizem İlgar</dc:creator>
  <cp:lastModifiedBy>Gizem İlgar</cp:lastModifiedBy>
  <cp:revision>1</cp:revision>
  <dcterms:created xsi:type="dcterms:W3CDTF">2026-10-07T13:16:51Z</dcterms:created>
  <dcterms:modified xsi:type="dcterms:W3CDTF">2026-10-07T13:16:51Z</dcterms:modified>
</cp:coreProperties>
</file>